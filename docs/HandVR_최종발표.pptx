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안녕하세요, 가상현실 1팀입니다. 저희 프로젝트 HandVR은 Quest 3 핸드트래킹과 실제 책상(패시브 햅틱)을 이용해, 시각 우위성으로 인한 인지왜곡(고무손 착각·시각적 포착·고유수용감각 표류)을 1인 체험으로 검증하는 실험입니다. 발표는 배경/가설 → 이론 3종 → 시스템·아키텍처 → 구현 현황 → 실험계획(8케이스) → 데이터·향후계획 순으로 진행합니다.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보고서 1장 목표 그대로입니다. 핵심은 보는 것과 만지는 것을 정해진 만큼만 어긋나게 만들어, 사람이 어느 감각을 더 믿는지를 정량적으로 보는 것입니다. 실제 책상을 같은 자리에 두는 패시브 햅틱이 신체화 유도의 전제 조건입니다.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가설은 두 갈래입니다. 첫째, 어긋남이 어느 선을 넘으면 착각이 깨진다(임계점). 둘째, 착각이 살아있는 상태에서는 시각이 촉각의 위치 판단까지 끌고 간다(촉각 왜곡). Phase 1이 첫째를, Phase 2가 둘째를 검증합니다.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고무손 착각은 이 프로젝트의 출발점입니다. 보이는 손과 닿는 자극이 동기화되면 뇌가 가짜 손을 받아들입니다. 코드에서는 실제 손을 숨기고, 책상 위 가짜 손을 붓이 일정 주기로 쓰다듬으며, 일치/불일치 조건을 프리셋으로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시각적 포착은 손이 옆으로 점프해도 사용자는 보이는 손을 따라간다는 점을 보여줍니다. 빨간 구 타겟을 보이는 손으로 만지게 해 시각과 실제 손 위치의 분리를 직접 느끼게 합니다. 공간오차는 5~30cm로 가변입니다.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표류 실험은 시각 포착을 시간축으로 확장합니다. 보이는 손을 천천히 흔들면 사용자의 위치 감각이 끌려옵니다. 파란 마커는 실제 손목을 보여주어, 보이는 손과 진짜 손이 얼마나 벌어졌는지를 드러냅니다.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기술 스택은 보고서 2장 그대로입니다. 핵심은 OculusXR 플러그인으로 Quest 3의 손목 포즈를 직접 받고, OpenXR 핸드트래킹으로 관절을 얹는 구조입니다. 좌표계는 LocalFloor 원점이라 사용자마다 책상 높이가 일정하게 잡혀 패시브 햅틱 정합이 유지됩니다.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전부 C++로 작성했습니다. HandPawn은 실제 손목(MC) 아래에 변위용 HandOffset 노드를 두고, ExperimentManager가 이 노드만 밀어 시각 손을 옮깁니다. 실제 손은 그대로라 버튼 충돌은 진짜 손 기준입니다. 상태머신은 인트로부터 시작해 실험-설문-결과를 돌며, 실험이 끝나면 그 조건의 설문이 자동으로 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완료된 것은 핸드트래킹, 실험 4종, 설문/CSV, 절차적 씬, 그리고 붓 에셋 정합입니다. 진행 중인 것은 두 가지인데, 시각 손을 일정 시간 늦게 보여주는 시간오차 적용과, 8개 조건을 자동으로 순회시키는 전환 로직입니다. 이 둘이 붙으면 보고서 5장 8케이스를 헤드셋을 벗지 않고 끝까지 돌릴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보고서 5장의 핵심 표입니다. Phase 1은 어디까지 어긋나도 착각이 유지되는가라는 임계값을, Phase 2는 착각이 살아있을 때 시각이 촉각을 왜곡하는가를 봅니다. 4명이 각각 8케이스를 수행합니다. 일치는 실제 자극부위와 시각 자극부위가 동일한 경우를 뜻합니다.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절충형 설계의 요지입니다. 새로 실험을 만드는 대신, 이미 만든 4실험 위에 공간오차·시간오차·일치/불일치·소유감 on/off라는 변인 4개를 프리셋으로 얹어 8케이스를 그대로 재현합니다. 변인 값은 코드 EditAnywhere 프로퍼티와 조건 프리셋으로 관리해 재컴파일 없이 바꿀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자극은 4명 모두에게 동일하게 들어가도록 고정했습니다. 붓은 정해진 손가락 위에서 일정 주기로 왕복하고, 망치는 들어올림-내려치기-충격-복귀 4단계를 반복합니다. 충격이나 왕복 순간에만 2초 효과음이 한 번 울리도록 엣지 검출로 누적을 막았습니다. 효과는 페이드 없이 즉시 적용됩니다.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설문은 보고서 5장의 8문항을 그대로 옮겼습니다. 공간/시간 일치감, 촉각왜곡, 자극위치판단, 시각우위성, 위화감, 현실감, 위협감 순입니다. 케이스별 평균 점수를 비교해 공간·시간·촉각 차이가 소유감과 촉각왜곡에 미치는 영향을 분석합니다. (구현 코드는 신체소유감 문항을 맨 앞에 추가해 운용상 9문항으로 운영하기도 합니다.)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데이터는 조건이 끝날 때마다 한 행씩 CSV로 즉시 기록합니다. 설문이 안 뜨는 사고가 나도 중간값을 자동 기록하고 넘어가며, 모든 이벤트를 발생 즉시 파일에 써서 중간에 멈춰도 직전까지는 보존됩니다. 분석은 케이스별 평균 점수 비교로 진행합니다.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 경험은 인트로 내러티브로 시작합니다. 차분한 실험실 안내로 관찰자 모드를 만들어 신체소유감 유도의 전제를 깝니다. 이후 메뉴에서 실험을 고르면 조건이 즉시 적용되고, 끝나면 그 조건의 설문이 자동으로 떠 응답 후 메뉴로 돌아옵니다.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역할은 보고서 6장 그대로입니다. 완료 단계에서 설계·핸드트래킹·씬·아이디어를 각각 맡았고, 계획 단계에서는 설문/데이터(김희용), 좌표·시간 정합 및 조건 자동전환(이종현), 모델링·최적화(정윤아), 사운드·분석(이권수)으로 나눕니다.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현재 빌드의 실험실 씬입니다. 실측 사이즈로 책상과 의자가 배치되고, 책상 위에 가짜 손과 프롭이 올라갑니다. 헤드리스 캡처 환경(이 PC의 OpenXR/TDR 제약) 한계로 화면은 다소 어둡지만, 시각 최종검증은 Quest 3 실기기에서 진행합니다.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정리하면, 인지왜곡을 1인 체험으로 검증하는 파이프라인을 C++로 구축했고, 절충형 변인 설계로 8케이스를 재현할 구조를 갖췄습니다. 남은 일은 시간오차와 조건 자동전환을 붙이고, 모델링·사운드를 마무리한 뒤, 실기기에서 4명×8케이스 데이터를 모아 분석하는 것입니다. 시각 검증은 이 PC의 시뮬레이터 한계로 실기기에서 마무리합니다.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18288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12801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HandVR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시각 우위성 기반 인지왜곡 VR 실험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1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Rubber Hand Illusion · Visual Capture · Proprioceptive Drift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가상현실 1팀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김희용 · 이종현 · 정윤아 · 이권수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Meta Quest 3  ·  Unreal Engine 5.7  ·  C++  ·  OpenXR 핸드트래킹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배경 &amp; 목표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292608"/>
            <a:ext cx="7772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  <a:p>
            <a:pPr algn="l" lvl="1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VR에서 현실 소품(촉각)과 가상 오브젝트(시각)를 의도적으로 불일치시켜 감각 왜곡 과정을 실험적으로 탐구</a:t>
            </a:r>
          </a:p>
          <a:p>
            <a:pPr algn="l" lvl="1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핵심 측정: 시각 우위성이 촉각 인지에 미치는 영향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세부 목표</a:t>
            </a:r>
          </a:p>
          <a:p>
            <a:pPr algn="l" lvl="1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Quest 3 기반 1인 체험형 VR 실험 환경 구축 (실험실·책상·의자·조명)</a:t>
            </a:r>
          </a:p>
          <a:p>
            <a:pPr algn="l" lvl="1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OpenXR 핸드트래킹으로 컨트롤러 없는 자연스러운 손 인터랙션</a:t>
            </a:r>
          </a:p>
          <a:p>
            <a:pPr algn="l" lvl="1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패시브 햅틱스 + 물리 기반 렌더링으로 신체화(embodiment) 유도</a:t>
            </a:r>
          </a:p>
          <a:p>
            <a:pPr algn="l" lvl="1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몰입감·실재감 변화 측정 및 감각왜곡 발생 여부 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핵심 가설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292608"/>
            <a:ext cx="7772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1143000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1042416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핵심 가설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시각 정보는 촉각 정보보다 우위에 있어, 충분히 정교한 VR 환경에서 사용자는 실제 자극과 불일치하는 감각왜곡을 경험한다.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0881360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세부 가설 (보고서 5장)</a:t>
            </a:r>
          </a:p>
          <a:p>
            <a:pPr algn="l" lvl="1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공간 임계점 — 가상 손(시각)과 실제 손(고유수용감각)의 좌표 불일치가 커지면 신체소유감이 줄고, 임계값을 넘는 순간 인지왜곡이 중단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촉각 왜곡 — 신체소유감이 활성화되면 실제 자극 부위와 시각 자극 부위가 달라도 뇌는 시각을 우선해 촉각왜곡이 발생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이론 1 — 고무손 착각 (Rubber Hand Illusion)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292608"/>
            <a:ext cx="7772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1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Botvinick &amp; Cohen, 1998 — 후속 연구로 반복 검증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시각 자극과 촉각 자극이 동기화되면 가짜 손도 자신의 손처럼 느끼는 현상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구현 (실험 1)</a:t>
            </a:r>
          </a:p>
          <a:p>
            <a:pPr algn="l" lvl="1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실제 추적 손을 숨기고, 책상 위 정적 가짜 손 위로 가상 붓이 0.5Hz(왕복 2초)로 쓰다듬음</a:t>
            </a:r>
          </a:p>
          <a:p>
            <a:pPr algn="l" lvl="1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조건: 자극 일치(보이는 위치=만지는 위치) / 불일치(다른 손가락 쪽 자극)</a:t>
            </a:r>
          </a:p>
          <a:p>
            <a:pPr algn="l" lvl="1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붓 왕복 1회마다 효과음 1회 (2초 클립, 이전 인스턴스 cut으로 누적 방지)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이론 2 — 시각적 포착 (Visual Capture)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292608"/>
            <a:ext cx="7772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여러 감각이 충돌할 때 사람은 일반적으로 시각 정보를 우선해 받아들이는 경향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뇌가 신뢰도 높은 정보(시각)를 기준으로 다른 감각을 해석하는 과정으로 이해됨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구현 (실험 2)</a:t>
            </a:r>
          </a:p>
          <a:p>
            <a:pPr algn="l" lvl="1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시각 손을 실제 손목 + 가변 공간오차(LateralOffsetCm, 예: 5 / 15 / 30 cm, 오른쪽)로 이동</a:t>
            </a:r>
          </a:p>
          <a:p>
            <a:pPr algn="l" lvl="1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책상 위 빨간 구(지름 ~8cm) 타겟을 "보이는 손"으로 터치</a:t>
            </a:r>
          </a:p>
          <a:p>
            <a:pPr algn="l" lvl="1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시각과 고유수용감각의 분리를 직접 체감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이론 3 — 고유수용감각 표류 (Proprioceptive Drift)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292608"/>
            <a:ext cx="7772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시각의 영향으로 자신의 신체 위치를 실제와 다른 곳에 있다고 느끼는 현상 (RHI와 함께 관찰)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구현 (실험 3)</a:t>
            </a:r>
          </a:p>
          <a:p>
            <a:pPr algn="l" lvl="1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Visual Capture + Y offset = base + 8·sin(2π·0.4·t) cm 의 느린 사인 흔들림</a:t>
            </a:r>
          </a:p>
          <a:p>
            <a:pPr algn="l" lvl="1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진폭 8cm, 주파수 0.4Hz (DriftAmplitudeCm / DriftHz)</a:t>
            </a:r>
          </a:p>
          <a:p>
            <a:pPr algn="l" lvl="1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실제 손목 위치에 파란 큐브 마커(4cm)를 띄워 "진짜 손 위치"를 시각화 — 시각 손과 분리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시스템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292608"/>
            <a:ext cx="7772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103120" cy="566928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20116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엔진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554480"/>
            <a:ext cx="8595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Unreal Engine 5.7.4 — VR 환경 · 렌더링 전체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31136"/>
            <a:ext cx="2103120" cy="566928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31136"/>
            <a:ext cx="20116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플러그인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231136"/>
            <a:ext cx="8595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OculusXR Plugin 201.0 — Quest 3 핸드트래킹 / HMD 연동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07791"/>
            <a:ext cx="2103120" cy="566928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1"/>
            <a:ext cx="20116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표준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907791"/>
            <a:ext cx="8595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OpenXR (XR_EXT_hand_tracking) — 손 관절 추적 데이터 수신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84448"/>
            <a:ext cx="2103120" cy="566928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84448"/>
            <a:ext cx="20116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빌드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584448"/>
            <a:ext cx="8595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Visual Studio 2026 / Android SDK 34 — PC 에디터 + Quest APK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61104"/>
            <a:ext cx="2103120" cy="566928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61104"/>
            <a:ext cx="20116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버전관리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261104"/>
            <a:ext cx="8595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Git / GitHub — 소스코드 · 씬 에셋 공유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983480"/>
            <a:ext cx="10835640" cy="713232"/>
          </a:xfrm>
          <a:prstGeom prst="rect">
            <a:avLst/>
          </a:prstGeom>
          <a:solidFill>
            <a:srgbClr val="17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83480"/>
            <a:ext cx="1051560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좌표 / 패시브 햅틱 — LocalFloor 원점, 책상 윗면 z=73, 책상앞 x=+30, 의자좌석 z=42 (가상=실제 정합)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아키텍처 — 클래스 구성 + FSM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292608"/>
            <a:ext cx="7772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035040" cy="4937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클래스 구성 (C++ 100%)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▪ AHandPawn  </a:t>
            </a:r>
            <a:r>
              <a:rPr sz="135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VR 카메라 + 양손 OculusXR 핸드트래킹 + 손목 트리거 + 시각용 손 offset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▪ AExperimentManager  </a:t>
            </a:r>
            <a:r>
              <a:rPr sz="135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런타임 FSM, 실험 props 스폰 / 조건 적용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▪ AHTDButton  </a:t>
            </a:r>
            <a:r>
              <a:rPr sz="135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3D 손 터치 버튼 (박스 트리거 + 1초 쿨다운)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▪ ASurveyManager  </a:t>
            </a:r>
            <a:r>
              <a:rPr sz="135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8문항 5점 리커트 + CSV 저장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▪ AWorldSetup  </a:t>
            </a:r>
            <a:r>
              <a:rPr sz="135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절차적 방·책상·의자 (실측 사이즈 자동 fit)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3720" y="1417320"/>
            <a:ext cx="4617720" cy="4937760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554480"/>
            <a:ext cx="4206240" cy="4663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손 계층 (per hand)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MotionController (실제 손목)</a:t>
            </a:r>
          </a:p>
          <a:p>
            <a:pPr algn="l" lvl="1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→ WristTrigger (버튼 충돌)</a:t>
            </a:r>
          </a:p>
          <a:p>
            <a:pPr algn="l" lvl="1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→ HandOffset (시각 변위)</a:t>
            </a:r>
          </a:p>
          <a:p>
            <a:pPr algn="l" lvl="1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   → OculusXRHand (렌더 손)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상태 머신 (FSM)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Intro → Start → MainMenu</a:t>
            </a:r>
          </a:p>
          <a:p>
            <a:pPr algn="l" lvl="1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→ [Experiment | Survey | Results]</a:t>
            </a:r>
          </a:p>
          <a:p>
            <a:pPr algn="l" lvl="1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→ MainMenu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실험 종료 시 해당 조건 설문 자동 표시 → 메뉴 복귀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구현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292608"/>
            <a:ext cx="7772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349240" cy="4846320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93776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4CC07A"/>
                </a:solidFill>
                <a:latin typeface="Malgun Gothic"/>
                <a:ea typeface="Malgun Gothic"/>
                <a:cs typeface="Malgun Gothic"/>
              </a:rPr>
              <a:t>✔ 완료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핸드트래킹 파이프라인 (MC+OculusXRHand 계층, ConfidenceBehavior=None 끊김 방지)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실험 4종 로직 (RHI / 시각포착 / 표류 / 망치위협)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8문항 5점 리커트 설문 + CSV 자동 저장 (UTF-8 BOM)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절차적 실험실 씬 (방·책상·의자·조명, 실측 사이즈 fit)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붓 에셋 정합 (Blender→FBX→UE 임포트, 실측 비율, 효과음 임포트)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63040"/>
            <a:ext cx="5349240" cy="4846320"/>
          </a:xfrm>
          <a:prstGeom prst="rect">
            <a:avLst/>
          </a:prstGeom>
          <a:solidFill>
            <a:srgbClr val="17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93776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▶ 진행 중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시간오차(Latency) 가변 적용 — 시각 손 N ms 지연 렌더(링버퍼)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8개 실험 조건 자동 전환 로직 (조건별 자동 설문 + CSV)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350" b="0" i="1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→ 두 기능 완성 시 보고서 5장 8케이스를 헤드셋을 벗지 않고 끝까지 자동 순회 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실험 계획 — 8케이스 2페이즈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292608"/>
            <a:ext cx="7772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Phase 1 — 신체소유감 활성 임계값 도출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94560"/>
                <a:gridCol w="2377440"/>
                <a:gridCol w="49377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케이스</a:t>
                      </a:r>
                    </a:p>
                  </a:txBody>
                  <a:tcPr anchor="ctr" marT="12700" marB="12700" marL="76200" marR="76200">
                    <a:solidFill>
                      <a:srgbClr val="4D9D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공간오차</a:t>
                      </a:r>
                    </a:p>
                  </a:txBody>
                  <a:tcPr anchor="ctr" marT="12700" marB="12700" marL="76200" marR="76200">
                    <a:solidFill>
                      <a:srgbClr val="4D9D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시간오차</a:t>
                      </a:r>
                    </a:p>
                  </a:txBody>
                  <a:tcPr anchor="ctr" marT="12700" marB="12700" marL="76200" marR="76200">
                    <a:solidFill>
                      <a:srgbClr val="4D9D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실험 목적</a:t>
                      </a:r>
                    </a:p>
                  </a:txBody>
                  <a:tcPr anchor="ctr" marT="12700" marB="12700" marL="76200" marR="76200">
                    <a:solidFill>
                      <a:srgbClr val="4D9DE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Case 1</a:t>
                      </a:r>
                    </a:p>
                  </a:txBody>
                  <a:tcPr anchor="ctr" marT="12700" marB="12700" marL="76200" marR="76200">
                    <a:solidFill>
                      <a:srgbClr val="1E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최소화</a:t>
                      </a:r>
                    </a:p>
                  </a:txBody>
                  <a:tcPr anchor="ctr" marT="12700" marB="12700" marL="76200" marR="76200">
                    <a:solidFill>
                      <a:srgbClr val="1E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최소화</a:t>
                      </a:r>
                    </a:p>
                  </a:txBody>
                  <a:tcPr anchor="ctr" marT="12700" marB="12700" marL="76200" marR="76200">
                    <a:solidFill>
                      <a:srgbClr val="1E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최상 동기화에서 신체소유감 측정</a:t>
                      </a:r>
                    </a:p>
                  </a:txBody>
                  <a:tcPr anchor="ctr" marT="12700" marB="12700" marL="76200" marR="76200">
                    <a:solidFill>
                      <a:srgbClr val="1E2B4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Case 2</a:t>
                      </a:r>
                    </a:p>
                  </a:txBody>
                  <a:tcPr anchor="ctr" marT="12700" marB="12700" marL="76200" marR="76200">
                    <a:solidFill>
                      <a:srgbClr val="17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가변 5~30cm</a:t>
                      </a:r>
                    </a:p>
                  </a:txBody>
                  <a:tcPr anchor="ctr" marT="12700" marB="12700" marL="76200" marR="76200">
                    <a:solidFill>
                      <a:srgbClr val="17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최소화</a:t>
                      </a:r>
                    </a:p>
                  </a:txBody>
                  <a:tcPr anchor="ctr" marT="12700" marB="12700" marL="76200" marR="76200">
                    <a:solidFill>
                      <a:srgbClr val="17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소유감이 사라지는 오차거리</a:t>
                      </a:r>
                    </a:p>
                  </a:txBody>
                  <a:tcPr anchor="ctr" marT="12700" marB="12700" marL="76200" marR="76200">
                    <a:solidFill>
                      <a:srgbClr val="17223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Case 3</a:t>
                      </a:r>
                    </a:p>
                  </a:txBody>
                  <a:tcPr anchor="ctr" marT="12700" marB="12700" marL="76200" marR="76200">
                    <a:solidFill>
                      <a:srgbClr val="1E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최소화</a:t>
                      </a:r>
                    </a:p>
                  </a:txBody>
                  <a:tcPr anchor="ctr" marT="12700" marB="12700" marL="76200" marR="76200">
                    <a:solidFill>
                      <a:srgbClr val="1E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가변 100~500ms</a:t>
                      </a:r>
                    </a:p>
                  </a:txBody>
                  <a:tcPr anchor="ctr" marT="12700" marB="12700" marL="76200" marR="76200">
                    <a:solidFill>
                      <a:srgbClr val="1E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소유감이 사라지는 오차시간</a:t>
                      </a:r>
                    </a:p>
                  </a:txBody>
                  <a:tcPr anchor="ctr" marT="12700" marB="12700" marL="76200" marR="76200">
                    <a:solidFill>
                      <a:srgbClr val="1E2B4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Case 4</a:t>
                      </a:r>
                    </a:p>
                  </a:txBody>
                  <a:tcPr anchor="ctr" marT="12700" marB="12700" marL="76200" marR="76200">
                    <a:solidFill>
                      <a:srgbClr val="17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가변 5~30cm</a:t>
                      </a:r>
                    </a:p>
                  </a:txBody>
                  <a:tcPr anchor="ctr" marT="12700" marB="12700" marL="76200" marR="76200">
                    <a:solidFill>
                      <a:srgbClr val="17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가변 100~500ms</a:t>
                      </a:r>
                    </a:p>
                  </a:txBody>
                  <a:tcPr anchor="ctr" marT="12700" marB="12700" marL="76200" marR="76200">
                    <a:solidFill>
                      <a:srgbClr val="17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시·공간 오차 공존 시 임계값</a:t>
                      </a:r>
                    </a:p>
                  </a:txBody>
                  <a:tcPr anchor="ctr" marT="12700" marB="12700" marL="76200" marR="76200">
                    <a:solidFill>
                      <a:srgbClr val="17223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794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9B7EE0"/>
                </a:solidFill>
                <a:latin typeface="Malgun Gothic"/>
                <a:ea typeface="Malgun Gothic"/>
                <a:cs typeface="Malgun Gothic"/>
              </a:rPr>
              <a:t>Phase 2 — 소유감 활성 상태의 촉각왜곡 검증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416052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94560"/>
                <a:gridCol w="2377440"/>
                <a:gridCol w="49377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케이스</a:t>
                      </a:r>
                    </a:p>
                  </a:txBody>
                  <a:tcPr anchor="ctr" marT="12700" marB="12700" marL="76200" marR="76200">
                    <a:solidFill>
                      <a:srgbClr val="9B7E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신체소유감</a:t>
                      </a:r>
                    </a:p>
                  </a:txBody>
                  <a:tcPr anchor="ctr" marT="12700" marB="12700" marL="76200" marR="76200">
                    <a:solidFill>
                      <a:srgbClr val="9B7E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촉각자극</a:t>
                      </a:r>
                    </a:p>
                  </a:txBody>
                  <a:tcPr anchor="ctr" marT="12700" marB="12700" marL="76200" marR="76200">
                    <a:solidFill>
                      <a:srgbClr val="9B7E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 결과</a:t>
                      </a:r>
                    </a:p>
                  </a:txBody>
                  <a:tcPr anchor="ctr" marT="12700" marB="12700" marL="76200" marR="76200">
                    <a:solidFill>
                      <a:srgbClr val="9B7EE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Case 5</a:t>
                      </a:r>
                    </a:p>
                  </a:txBody>
                  <a:tcPr anchor="ctr" marT="12700" marB="12700" marL="76200" marR="76200">
                    <a:solidFill>
                      <a:srgbClr val="1E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anchor="ctr" marT="12700" marB="12700" marL="76200" marR="76200">
                    <a:solidFill>
                      <a:srgbClr val="1E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불일치</a:t>
                      </a:r>
                    </a:p>
                  </a:txBody>
                  <a:tcPr anchor="ctr" marT="12700" marB="12700" marL="76200" marR="76200">
                    <a:solidFill>
                      <a:srgbClr val="1E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시각+표류가 촉각(현실)을 왜곡</a:t>
                      </a:r>
                    </a:p>
                  </a:txBody>
                  <a:tcPr anchor="ctr" marT="12700" marB="12700" marL="76200" marR="76200">
                    <a:solidFill>
                      <a:srgbClr val="1E2B4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Case 6</a:t>
                      </a:r>
                    </a:p>
                  </a:txBody>
                  <a:tcPr anchor="ctr" marT="12700" marB="12700" marL="76200" marR="76200">
                    <a:solidFill>
                      <a:srgbClr val="17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비활성</a:t>
                      </a:r>
                    </a:p>
                  </a:txBody>
                  <a:tcPr anchor="ctr" marT="12700" marB="12700" marL="76200" marR="76200">
                    <a:solidFill>
                      <a:srgbClr val="17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불일치</a:t>
                      </a:r>
                    </a:p>
                  </a:txBody>
                  <a:tcPr anchor="ctr" marT="12700" marB="12700" marL="76200" marR="76200">
                    <a:solidFill>
                      <a:srgbClr val="17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촉각왜곡 일어나지 않음</a:t>
                      </a:r>
                    </a:p>
                  </a:txBody>
                  <a:tcPr anchor="ctr" marT="12700" marB="12700" marL="76200" marR="76200">
                    <a:solidFill>
                      <a:srgbClr val="17223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Case 7</a:t>
                      </a:r>
                    </a:p>
                  </a:txBody>
                  <a:tcPr anchor="ctr" marT="12700" marB="12700" marL="76200" marR="76200">
                    <a:solidFill>
                      <a:srgbClr val="1E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anchor="ctr" marT="12700" marB="12700" marL="76200" marR="76200">
                    <a:solidFill>
                      <a:srgbClr val="1E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시각자극만</a:t>
                      </a:r>
                    </a:p>
                  </a:txBody>
                  <a:tcPr anchor="ctr" marT="12700" marB="12700" marL="76200" marR="76200">
                    <a:solidFill>
                      <a:srgbClr val="1E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시각+표류가 촉각(현실)을 왜곡</a:t>
                      </a:r>
                    </a:p>
                  </a:txBody>
                  <a:tcPr anchor="ctr" marT="12700" marB="12700" marL="76200" marR="76200">
                    <a:solidFill>
                      <a:srgbClr val="1E2B4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Case 8</a:t>
                      </a:r>
                    </a:p>
                  </a:txBody>
                  <a:tcPr anchor="ctr" marT="12700" marB="12700" marL="76200" marR="76200">
                    <a:solidFill>
                      <a:srgbClr val="17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비활성</a:t>
                      </a:r>
                    </a:p>
                  </a:txBody>
                  <a:tcPr anchor="ctr" marT="12700" marB="12700" marL="76200" marR="76200">
                    <a:solidFill>
                      <a:srgbClr val="17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시각자극만</a:t>
                      </a:r>
                    </a:p>
                  </a:txBody>
                  <a:tcPr anchor="ctr" marT="12700" marB="12700" marL="76200" marR="76200">
                    <a:solidFill>
                      <a:srgbClr val="17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촉각왜곡 일어나지 않음</a:t>
                      </a:r>
                    </a:p>
                  </a:txBody>
                  <a:tcPr anchor="ctr" marT="12700" marB="12700" marL="76200" marR="76200">
                    <a:solidFill>
                      <a:srgbClr val="17223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199632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* 4명이 각각 8케이스 수행. '일치'는 실제 자극부위 = 시각적 자극부위인 경우.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조건 변인 (절충형 핵심)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292608"/>
            <a:ext cx="7772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28016" cy="9144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5156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공간오차  LateralOffsetCm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가변 프리셋 5 / 15 / 30 cm — 시각 손 +Y 이동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33472"/>
            <a:ext cx="128016" cy="914400"/>
          </a:xfrm>
          <a:prstGeom prst="rect">
            <a:avLst/>
          </a:prstGeom>
          <a:solidFill>
            <a:srgbClr val="F2C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105156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시간오차  LatencyMs  (신규)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0 / 100 / 300 / 500 ms — 시각 손 지연 렌더(링버퍼) · '현실-가상 시간 정합' 담당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12463"/>
            <a:ext cx="128016" cy="9144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12463"/>
            <a:ext cx="105156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자극 일치/불일치  StimulusMatched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붓이 보이는 위치(일치) 또는 다른 손가락 쪽(불일치) 자극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791455"/>
            <a:ext cx="128016" cy="914400"/>
          </a:xfrm>
          <a:prstGeom prst="rect">
            <a:avLst/>
          </a:prstGeom>
          <a:solidFill>
            <a:srgbClr val="9B7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91455"/>
            <a:ext cx="105156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9B7EE0"/>
                </a:solidFill>
                <a:latin typeface="Malgun Gothic"/>
                <a:ea typeface="Malgun Gothic"/>
                <a:cs typeface="Malgun Gothic"/>
              </a:rPr>
              <a:t>신체소유감 유도  on / off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붓 동기자극 유도 단계의 유무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870447"/>
            <a:ext cx="10835640" cy="566928"/>
          </a:xfrm>
          <a:prstGeom prst="rect">
            <a:avLst/>
          </a:prstGeom>
          <a:solidFill>
            <a:srgbClr val="17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870447"/>
            <a:ext cx="1051560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절충형 = 현 4실험 위에 위 4변인을 '조건 프리셋'으로 얹어 8케이스를 재현 (재컴파일 불필요)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자극 &amp; 인터랙션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292608"/>
            <a:ext cx="7772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2331720" cy="713232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224028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실험 1 · RHI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508760"/>
            <a:ext cx="841248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가짜 손 위 가상 붓 0.5Hz 왕복(왕복 2초), 일치/불일치, 왕복당 효과음 1회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50008"/>
            <a:ext cx="2331720" cy="713232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224028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실험 2 · 시각포착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350008"/>
            <a:ext cx="841248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시각 손 +공간오차, 책상 위 빨간 구(~8cm) 타겟을 보이는 손으로 터치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91256"/>
            <a:ext cx="2331720" cy="713232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191256"/>
            <a:ext cx="224028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실험 3 · 표류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191256"/>
            <a:ext cx="841248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VC + 8cm·0.4Hz 사인 흔들림, 실제 손목에 파란 큐브 마커(4cm)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32504"/>
            <a:ext cx="2331720" cy="713232"/>
          </a:xfrm>
          <a:prstGeom prst="rect">
            <a:avLst/>
          </a:prstGeom>
          <a:solidFill>
            <a:srgbClr val="9B7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32504"/>
            <a:ext cx="224028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실험 4 · 망치위협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032504"/>
            <a:ext cx="841248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lift → strike → impact → return 4단계 반복, 충격 순간 효과음 1회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19472"/>
            <a:ext cx="108813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공통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모든 시각 효과는 즉시(스냅) 적용/해제, 프롭 충돌 없음(매 틱 위치 갱신)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사운드: 프롭 부착 UAudioComponent, 이벤트마다 Play()로 이전 인스턴스 cut(누적 방지), 2초 클립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설문 — 8문항 5점 리커트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292608"/>
            <a:ext cx="7772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각 케이스 종료 시 자동 표시 · 1점(전혀 아니다) ~ 5점(매우 그렇다)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8813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7315200"/>
                <a:gridCol w="301752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A20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</a:p>
                  </a:txBody>
                  <a:tcPr anchor="ctr" marT="12700" marB="12700" marL="88900" marR="76200">
                    <a:solidFill>
                      <a:srgbClr val="F2C6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A20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측정항목 · 문항</a:t>
                      </a:r>
                    </a:p>
                  </a:txBody>
                  <a:tcPr anchor="ctr" marT="12700" marB="12700" marL="88900" marR="76200">
                    <a:solidFill>
                      <a:srgbClr val="F2C6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A20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용도</a:t>
                      </a:r>
                    </a:p>
                  </a:txBody>
                  <a:tcPr anchor="ctr" marT="12700" marB="12700" marL="88900" marR="76200">
                    <a:solidFill>
                      <a:srgbClr val="F2C64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anchor="ctr" marT="12700" marB="12700" marL="88900" marR="76200">
                    <a:solidFill>
                      <a:srgbClr val="1E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공간일치감 — 가상 손 위치가 실제 내 손 위치와 비슷했는가?</a:t>
                      </a:r>
                    </a:p>
                  </a:txBody>
                  <a:tcPr anchor="ctr" marT="12700" marB="12700" marL="88900" marR="76200">
                    <a:solidFill>
                      <a:srgbClr val="1E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공간 허용범위</a:t>
                      </a:r>
                    </a:p>
                  </a:txBody>
                  <a:tcPr anchor="ctr" marT="12700" marB="12700" marL="88900" marR="76200">
                    <a:solidFill>
                      <a:srgbClr val="1E2B4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anchor="ctr" marT="12700" marB="12700" marL="88900" marR="76200">
                    <a:solidFill>
                      <a:srgbClr val="17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시간일치감 — 본 자극과 실제 촉각이 동시에 일어난 것 같았는가?</a:t>
                      </a:r>
                    </a:p>
                  </a:txBody>
                  <a:tcPr anchor="ctr" marT="12700" marB="12700" marL="88900" marR="76200">
                    <a:solidFill>
                      <a:srgbClr val="17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 동기화 허용범위</a:t>
                      </a:r>
                    </a:p>
                  </a:txBody>
                  <a:tcPr anchor="ctr" marT="12700" marB="12700" marL="88900" marR="76200">
                    <a:solidFill>
                      <a:srgbClr val="1722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anchor="ctr" marT="12700" marB="12700" marL="88900" marR="76200">
                    <a:solidFill>
                      <a:srgbClr val="1E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촉각왜곡 — 실제 자극부위가 아니라 본 위치에서 촉각이 느껴졌는가?</a:t>
                      </a:r>
                    </a:p>
                  </a:txBody>
                  <a:tcPr anchor="ctr" marT="12700" marB="12700" marL="88900" marR="76200">
                    <a:solidFill>
                      <a:srgbClr val="1E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왜곡 발생 여부</a:t>
                      </a:r>
                    </a:p>
                  </a:txBody>
                  <a:tcPr anchor="ctr" marT="12700" marB="12700" marL="88900" marR="76200">
                    <a:solidFill>
                      <a:srgbClr val="1E2B4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anchor="ctr" marT="12700" marB="12700" marL="88900" marR="76200">
                    <a:solidFill>
                      <a:srgbClr val="17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자극위치판단 — 자극 위치를 시각적으로 본 위치 기준으로 판단했는가?</a:t>
                      </a:r>
                    </a:p>
                  </a:txBody>
                  <a:tcPr anchor="ctr" marT="12700" marB="12700" marL="88900" marR="76200">
                    <a:solidFill>
                      <a:srgbClr val="17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시각의 위치판단 영향</a:t>
                      </a:r>
                    </a:p>
                  </a:txBody>
                  <a:tcPr anchor="ctr" marT="12700" marB="12700" marL="88900" marR="76200">
                    <a:solidFill>
                      <a:srgbClr val="1722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anchor="ctr" marT="12700" marB="12700" marL="88900" marR="76200">
                    <a:solidFill>
                      <a:srgbClr val="1E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시각우위성 — 몸의 느낌보다 보이는 정보를 더 신뢰했는가?</a:t>
                      </a:r>
                    </a:p>
                  </a:txBody>
                  <a:tcPr anchor="ctr" marT="12700" marB="12700" marL="88900" marR="76200">
                    <a:solidFill>
                      <a:srgbClr val="1E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시각 우위성</a:t>
                      </a:r>
                    </a:p>
                  </a:txBody>
                  <a:tcPr anchor="ctr" marT="12700" marB="12700" marL="88900" marR="76200">
                    <a:solidFill>
                      <a:srgbClr val="1E2B4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anchor="ctr" marT="12700" marB="12700" marL="88900" marR="76200">
                    <a:solidFill>
                      <a:srgbClr val="17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위화감 — 가상 손과 실제 손 사이 어색함/위화감을 느꼈는가?</a:t>
                      </a:r>
                    </a:p>
                  </a:txBody>
                  <a:tcPr anchor="ctr" marT="12700" marB="12700" marL="88900" marR="76200">
                    <a:solidFill>
                      <a:srgbClr val="17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몰입도</a:t>
                      </a:r>
                    </a:p>
                  </a:txBody>
                  <a:tcPr anchor="ctr" marT="12700" marB="12700" marL="88900" marR="76200">
                    <a:solidFill>
                      <a:srgbClr val="1722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anchor="ctr" marT="12700" marB="12700" marL="88900" marR="76200">
                    <a:solidFill>
                      <a:srgbClr val="1E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현실감 — 자극 상황이 실제 내 손에 일어난 일처럼 느껴졌는가?</a:t>
                      </a:r>
                    </a:p>
                  </a:txBody>
                  <a:tcPr anchor="ctr" marT="12700" marB="12700" marL="88900" marR="76200">
                    <a:solidFill>
                      <a:srgbClr val="1E2B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실재감</a:t>
                      </a:r>
                    </a:p>
                  </a:txBody>
                  <a:tcPr anchor="ctr" marT="12700" marB="12700" marL="88900" marR="76200">
                    <a:solidFill>
                      <a:srgbClr val="1E2B4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anchor="ctr" marT="12700" marB="12700" marL="88900" marR="76200">
                    <a:solidFill>
                      <a:srgbClr val="17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F2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위협감 — 가상 자극이 실제로 내 손을 위협한다고 느껴졌는가?</a:t>
                      </a:r>
                    </a:p>
                  </a:txBody>
                  <a:tcPr anchor="ctr" marT="12700" marB="12700" marL="88900" marR="76200">
                    <a:solidFill>
                      <a:srgbClr val="17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B9C4D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위협 설득력</a:t>
                      </a:r>
                    </a:p>
                  </a:txBody>
                  <a:tcPr anchor="ctr" marT="12700" marB="12700" marL="88900" marR="76200">
                    <a:solidFill>
                      <a:srgbClr val="1722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데이터 로깅 &amp;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292608"/>
            <a:ext cx="7772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조건별 CSV 자동 저장</a:t>
            </a:r>
          </a:p>
          <a:p>
            <a:pPr algn="l" lvl="1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Saved/SurveyResults_&lt;timestamp&gt;.csv  (UTF-8 BOM, Excel 호환)</a:t>
            </a:r>
          </a:p>
          <a:p>
            <a:pPr algn="l" lvl="1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한 행 = 조건 메타(실험종류 · LateralOffsetCm · LatencyMs · Matched) + 8문항 점수 + 타임스탬프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사고 방지 (보고서 4.6)</a:t>
            </a:r>
          </a:p>
          <a:p>
            <a:pPr algn="l" lvl="1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설문 미완료 시 중간값(3) 자동 기록 후 진행</a:t>
            </a:r>
          </a:p>
          <a:p>
            <a:pPr algn="l" lvl="1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이벤트 즉시 flush — 앱 중단에도 직전까지 데이터 보존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분석</a:t>
            </a:r>
          </a:p>
          <a:p>
            <a:pPr algn="l" lvl="1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케이스별 평균 점수 비교로 공간·시간·촉각 변인의 효과를 정량화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인트로 스토리 &amp; 사용자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292608"/>
            <a:ext cx="7772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인트로 내러티브 (앱 시작, 시작버튼 전) — 신체소유감 유도 사전조건 형성</a:t>
            </a:r>
          </a:p>
          <a:p>
            <a:pPr algn="l" lvl="1"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"지각 실험실에 오신 것을 환영합니다. 의자에 앉아 손을 책상 위에 올려 주세요."</a:t>
            </a:r>
          </a:p>
          <a:p>
            <a:pPr algn="l" lvl="1"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"곧 보이는 것과 느껴지는 것이 어긋날 수 있습니다. 판단하지 말고 관찰하세요."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"준비되면 [시작]을 눌러 주세요."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160520"/>
            <a:ext cx="1627632" cy="868680"/>
          </a:xfrm>
          <a:prstGeom prst="rect">
            <a:avLst/>
          </a:prstGeom>
          <a:solidFill>
            <a:srgbClr val="1E2B44"/>
          </a:solidFill>
          <a:ln w="1270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627632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Intro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86000" y="4453128"/>
            <a:ext cx="256032" cy="274320"/>
          </a:xfrm>
          <a:prstGeom prst="rightArrow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4160520"/>
            <a:ext cx="1627632" cy="868680"/>
          </a:xfrm>
          <a:prstGeom prst="rect">
            <a:avLst/>
          </a:prstGeom>
          <a:solidFill>
            <a:srgbClr val="1E2B44"/>
          </a:solidFill>
          <a:ln w="1270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4160520"/>
            <a:ext cx="1627632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06240" y="4453128"/>
            <a:ext cx="256032" cy="274320"/>
          </a:xfrm>
          <a:prstGeom prst="rightArrow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4160520"/>
            <a:ext cx="1627632" cy="868680"/>
          </a:xfrm>
          <a:prstGeom prst="rect">
            <a:avLst/>
          </a:prstGeom>
          <a:solidFill>
            <a:srgbClr val="1E2B44"/>
          </a:solidFill>
          <a:ln w="1270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160520"/>
            <a:ext cx="1627632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메인메뉴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26480" y="4453128"/>
            <a:ext cx="256032" cy="274320"/>
          </a:xfrm>
          <a:prstGeom prst="rightArrow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4160520"/>
            <a:ext cx="1627632" cy="868680"/>
          </a:xfrm>
          <a:prstGeom prst="rect">
            <a:avLst/>
          </a:prstGeom>
          <a:solidFill>
            <a:srgbClr val="1E2B44"/>
          </a:solidFill>
          <a:ln w="12700">
            <a:solidFill>
              <a:srgbClr val="F2C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60520"/>
            <a:ext cx="1627632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실험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(조건 적용)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046719" y="4453128"/>
            <a:ext cx="256032" cy="274320"/>
          </a:xfrm>
          <a:prstGeom prst="rightArrow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4160520"/>
            <a:ext cx="1627632" cy="868680"/>
          </a:xfrm>
          <a:prstGeom prst="rect">
            <a:avLst/>
          </a:prstGeom>
          <a:solidFill>
            <a:srgbClr val="1E2B44"/>
          </a:solidFill>
          <a:ln w="12700">
            <a:solidFill>
              <a:srgbClr val="F2C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160520"/>
            <a:ext cx="1627632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조건 설문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자동 표시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966959" y="4453128"/>
            <a:ext cx="256032" cy="274320"/>
          </a:xfrm>
          <a:prstGeom prst="rightArrow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241280" y="4160520"/>
            <a:ext cx="1627632" cy="868680"/>
          </a:xfrm>
          <a:prstGeom prst="rect">
            <a:avLst/>
          </a:prstGeom>
          <a:solidFill>
            <a:srgbClr val="1E2B44"/>
          </a:solidFill>
          <a:ln w="1270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4160520"/>
            <a:ext cx="1627632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메뉴 복귀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03520"/>
            <a:ext cx="108813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메뉴: 실험 1~4 / 설문 / 결과 / 종료  +  실험 중 '중단' 버튼 → 즉시 메뉴 복귀 (반복 / 종료)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역할 분담 &amp; 일정 (보고서 6장)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292608"/>
            <a:ext cx="7772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4CC07A"/>
                </a:solidFill>
                <a:latin typeface="Malgun Gothic"/>
                <a:ea typeface="Malgun Gothic"/>
                <a:cs typeface="Malgun Gothic"/>
              </a:rPr>
              <a:t>완료 사항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김희용  </a:t>
            </a:r>
            <a:r>
              <a:rPr sz="135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제안서·보고서, 실험 절차 설계 및 설문 문항 구성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이종현  </a:t>
            </a:r>
            <a:r>
              <a:rPr sz="135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GitHub 협업환경, 핸드트래킹 파이프라인 구축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정윤아  </a:t>
            </a:r>
            <a:r>
              <a:rPr sz="135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발표자료 제작, 가상현실 씬 구성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이권수  </a:t>
            </a:r>
            <a:r>
              <a:rPr sz="135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아이디어 제시, 제안서·보고서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37160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계획 사항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539496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김희용  </a:t>
            </a:r>
            <a:r>
              <a:rPr sz="135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설문 UI·데이터 기록, 실험 진행 및 결과 발표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이종현  </a:t>
            </a:r>
            <a:r>
              <a:rPr sz="135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현실-가상 좌표/시간 정합, 8조건 자동 전환 로직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정윤아  </a:t>
            </a:r>
            <a:r>
              <a:rPr sz="135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실험 도구 모델링·텍스처·조명·최적화, 발표자료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4D9DE0"/>
                </a:solidFill>
                <a:latin typeface="Malgun Gothic"/>
                <a:ea typeface="Malgun Gothic"/>
                <a:cs typeface="Malgun Gothic"/>
              </a:rPr>
              <a:t>이권수  </a:t>
            </a:r>
            <a:r>
              <a:rPr sz="135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사운드 시스템, 데이터 분석 및 최종 보고서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1371600"/>
            <a:ext cx="19050" cy="4114800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데모 — 실험실 씬 스크린샷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292608"/>
            <a:ext cx="7772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pic>
        <p:nvPicPr>
          <p:cNvPr id="6" name="Picture 5" descr="02_three_qu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5" y="1828800"/>
            <a:ext cx="3566160" cy="2240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2015" y="411908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씬 3/4 뷰 — 책상 · 의자 · 룸</a:t>
            </a:r>
          </a:p>
        </p:txBody>
      </p:sp>
      <p:pic>
        <p:nvPicPr>
          <p:cNvPr id="8" name="Picture 7" descr="04_desk_close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767" y="1828800"/>
            <a:ext cx="3566160" cy="2240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12767" y="411908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책상 클로즈업 — 프롭 배치</a:t>
            </a:r>
          </a:p>
        </p:txBody>
      </p:sp>
      <p:pic>
        <p:nvPicPr>
          <p:cNvPr id="10" name="Picture 9" descr="01_seated_po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519" y="1828800"/>
            <a:ext cx="3566160" cy="2240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3519" y="411908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착석 시점 — z=73 책상 정합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108813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절차적 실험실 씬 — 책상(z=73) · 의자(좌석 z=42) · 가짜 손/프롭 실측 배치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•  헤드리스 캡처 환경(이 PC의 OpenXR/TDR 제약)으로 화면은 어둡게 보임 — 시각 최종검증은 Quest 3 실기기(월요일 팀 실험)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412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결론 &amp; 향후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54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292608"/>
            <a:ext cx="7772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 i="0">
                <a:solidFill>
                  <a:srgbClr val="4CC07A"/>
                </a:solidFill>
                <a:latin typeface="Malgun Gothic"/>
                <a:ea typeface="Malgun Gothic"/>
                <a:cs typeface="Malgun Gothic"/>
              </a:rPr>
              <a:t>결론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시각 우위성 인지왜곡(RHI·VC·Drift)을 Quest 3 + 핸드트래킹 + 패시브 햅틱으로 1인 검증하는 파이프라인 구축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4실험 + 절충형 조건 변인으로 보고서 5장 8케이스를 재현 가능한 구조 확보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F2F5FA"/>
                </a:solidFill>
                <a:latin typeface="Malgun Gothic"/>
                <a:ea typeface="Malgun Gothic"/>
                <a:cs typeface="Malgun Gothic"/>
              </a:rPr>
              <a:t>•  C++ FSM · 설문 · CSV · 절차적 씬 · 붓 에셋 정합까지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88136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 i="0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향후 계획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시간오차(Latency) 가변 적용 + 8조건 자동 전환 완성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실험 도구 모델링/텍스처·조명 최적화, 사운드 시스템 마무리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B9C4D4"/>
                </a:solidFill>
                <a:latin typeface="Malgun Gothic"/>
                <a:ea typeface="Malgun Gothic"/>
                <a:cs typeface="Malgun Gothic"/>
              </a:rPr>
              <a:t>•  Quest 3 실기기 실험(4인 × 8케이스) → CSV 수집 → 케이스별 분석 → 최종 보고서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989320"/>
            <a:ext cx="10835640" cy="566928"/>
          </a:xfrm>
          <a:prstGeom prst="rect">
            <a:avLst/>
          </a:prstGeom>
          <a:solidFill>
            <a:srgbClr val="17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51560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F2C64B"/>
                </a:solidFill>
                <a:latin typeface="Malgun Gothic"/>
                <a:ea typeface="Malgun Gothic"/>
                <a:cs typeface="Malgun Gothic"/>
              </a:rPr>
              <a:t>한계(정직하게): 헤드리스 SceneCapture / Meta XR Simulator 불안정 → 시각 최종검증은 Quest 3 실기기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